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4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8EA63-F099-9C5C-BFC1-326E7CF5404A}" v="2" dt="2026-08-22T20:25:50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1C1E4-D78E-4E5A-BB9B-ADBE7DD9AFF4}" type="datetimeFigureOut"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C054F-6AA5-4476-BE78-5285F527EB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1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61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 Bkgd-no corner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3CE87FE-0694-484E-8485-B7F9962715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CE87FE-0694-484E-8485-B7F9962715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7309D5C1-7DBD-1B4A-BFFA-59351BAAB85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3458" r="14420" b="-1"/>
          <a:stretch/>
        </p:blipFill>
        <p:spPr>
          <a:xfrm>
            <a:off x="10464128" y="1"/>
            <a:ext cx="1727872" cy="144303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2038" y="363208"/>
            <a:ext cx="10746320" cy="688932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 sz="4000" b="0" i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311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018BFB-AB01-9E8F-8215-1631F5D468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018BFB-AB01-9E8F-8215-1631F5D46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4860592-755F-0C7A-8549-B4686A65654F}"/>
              </a:ext>
            </a:extLst>
          </p:cNvPr>
          <p:cNvSpPr/>
          <p:nvPr/>
        </p:nvSpPr>
        <p:spPr>
          <a:xfrm>
            <a:off x="-94335" y="-14082"/>
            <a:ext cx="5192531" cy="6857999"/>
          </a:xfrm>
          <a:prstGeom prst="rect">
            <a:avLst/>
          </a:prstGeom>
          <a:solidFill>
            <a:schemeClr val="bg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1D2CB-A778-A44B-8F0E-D5A5AF92918A}"/>
              </a:ext>
            </a:extLst>
          </p:cNvPr>
          <p:cNvSpPr/>
          <p:nvPr/>
        </p:nvSpPr>
        <p:spPr>
          <a:xfrm>
            <a:off x="4997935" y="1"/>
            <a:ext cx="5130045" cy="6857999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153F8A-D16C-87C4-ABFA-2BB22A72B877}"/>
              </a:ext>
            </a:extLst>
          </p:cNvPr>
          <p:cNvSpPr/>
          <p:nvPr/>
        </p:nvSpPr>
        <p:spPr>
          <a:xfrm>
            <a:off x="9403792" y="1"/>
            <a:ext cx="2812751" cy="6857999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E37F41-B0D3-2E4F-102B-50D68DED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038" y="363208"/>
            <a:ext cx="10746320" cy="688932"/>
          </a:xfrm>
        </p:spPr>
        <p:txBody>
          <a:bodyPr vert="horz" rIns="91440"/>
          <a:lstStyle/>
          <a:p>
            <a:r>
              <a:rPr lang="en-US" sz="2800">
                <a:solidFill>
                  <a:srgbClr val="0C2C83"/>
                </a:solidFill>
                <a:latin typeface="Roboto Condensed" pitchFamily="2" charset="0"/>
              </a:rPr>
              <a:t>Example | </a:t>
            </a:r>
            <a:r>
              <a:rPr lang="en-US" sz="2800">
                <a:latin typeface="Roboto Condensed" pitchFamily="2" charset="0"/>
              </a:rPr>
              <a:t>James, the Account Manager asks - "Which</a:t>
            </a:r>
            <a:br>
              <a:rPr lang="en-US" sz="2800">
                <a:latin typeface="Roboto Condensed" pitchFamily="2" charset="0"/>
              </a:rPr>
            </a:br>
            <a:r>
              <a:rPr lang="en-US" sz="2800" spc="-30">
                <a:latin typeface="Roboto Condensed" pitchFamily="2" charset="0"/>
              </a:rPr>
              <a:t>warehouse</a:t>
            </a:r>
            <a:r>
              <a:rPr lang="en-US" sz="2800" spc="-30" baseline="30000">
                <a:latin typeface="Roboto Condensed" pitchFamily="2" charset="0"/>
              </a:rPr>
              <a:t> </a:t>
            </a:r>
            <a:r>
              <a:rPr lang="en-US" sz="2800" spc="-30">
                <a:latin typeface="Roboto Condensed" pitchFamily="2" charset="0"/>
              </a:rPr>
              <a:t>is</a:t>
            </a:r>
            <a:r>
              <a:rPr lang="en-US" sz="2800" spc="-30" baseline="30000">
                <a:latin typeface="Roboto Condensed" pitchFamily="2" charset="0"/>
              </a:rPr>
              <a:t> </a:t>
            </a:r>
            <a:r>
              <a:rPr lang="en-US" sz="2800" spc="-30">
                <a:latin typeface="Roboto Condensed" pitchFamily="2" charset="0"/>
              </a:rPr>
              <a:t>closest</a:t>
            </a:r>
            <a:r>
              <a:rPr lang="en-US" sz="2800" spc="-30" baseline="30000">
                <a:latin typeface="Roboto Condensed" pitchFamily="2" charset="0"/>
              </a:rPr>
              <a:t> </a:t>
            </a:r>
            <a:r>
              <a:rPr lang="en-US" sz="2800" spc="-30">
                <a:latin typeface="Roboto Condensed" pitchFamily="2" charset="0"/>
              </a:rPr>
              <a:t>to</a:t>
            </a:r>
            <a:r>
              <a:rPr lang="en-US" sz="2800" spc="-30" baseline="30000">
                <a:latin typeface="Roboto Condensed" pitchFamily="2" charset="0"/>
              </a:rPr>
              <a:t> </a:t>
            </a:r>
            <a:r>
              <a:rPr lang="en-US" sz="2800" spc="-30">
                <a:latin typeface="Roboto Condensed" pitchFamily="2" charset="0"/>
              </a:rPr>
              <a:t>f</a:t>
            </a:r>
            <a:r>
              <a:rPr lang="en-US" sz="2800" spc="-20">
                <a:latin typeface="Roboto Condensed" pitchFamily="2" charset="0"/>
              </a:rPr>
              <a:t>ulfill</a:t>
            </a:r>
            <a:r>
              <a:rPr lang="en-US" sz="2800" spc="-20" baseline="30000">
                <a:latin typeface="Roboto Condensed" pitchFamily="2" charset="0"/>
              </a:rPr>
              <a:t> </a:t>
            </a:r>
            <a:r>
              <a:rPr lang="en-US" sz="2800" spc="-20">
                <a:latin typeface="Roboto Condensed" pitchFamily="2" charset="0"/>
              </a:rPr>
              <a:t>a</a:t>
            </a:r>
            <a:r>
              <a:rPr lang="en-US" sz="2800" spc="-20" baseline="30000">
                <a:latin typeface="Roboto Condensed" pitchFamily="2" charset="0"/>
              </a:rPr>
              <a:t> </a:t>
            </a:r>
            <a:r>
              <a:rPr lang="en-US" sz="2800" spc="-20">
                <a:latin typeface="Roboto Condensed" pitchFamily="2" charset="0"/>
              </a:rPr>
              <a:t>Doritos</a:t>
            </a:r>
            <a:r>
              <a:rPr lang="en-US" sz="2800" spc="-20" baseline="30000">
                <a:latin typeface="Roboto Condensed" pitchFamily="2" charset="0"/>
              </a:rPr>
              <a:t> </a:t>
            </a:r>
            <a:r>
              <a:rPr lang="en-US" sz="2800" spc="-20">
                <a:latin typeface="Roboto Condensed" pitchFamily="2" charset="0"/>
              </a:rPr>
              <a:t>order</a:t>
            </a:r>
            <a:r>
              <a:rPr lang="en-US" sz="2800" spc="-20" baseline="30000">
                <a:latin typeface="Roboto Condensed" pitchFamily="2" charset="0"/>
              </a:rPr>
              <a:t> </a:t>
            </a:r>
            <a:r>
              <a:rPr lang="en-US" sz="2800" spc="-20">
                <a:latin typeface="Roboto Condensed" pitchFamily="2" charset="0"/>
              </a:rPr>
              <a:t>at</a:t>
            </a:r>
            <a:r>
              <a:rPr lang="en-US" sz="2800" spc="-20" baseline="30000">
                <a:latin typeface="Roboto Condensed" pitchFamily="2" charset="0"/>
              </a:rPr>
              <a:t> </a:t>
            </a:r>
            <a:r>
              <a:rPr lang="en-US" sz="2800" spc="-20">
                <a:latin typeface="Roboto Condensed" pitchFamily="2" charset="0"/>
              </a:rPr>
              <a:t>Supermarket A?"</a:t>
            </a:r>
          </a:p>
        </p:txBody>
      </p:sp>
      <p:sp>
        <p:nvSpPr>
          <p:cNvPr id="7" name="NavigationText">
            <a:extLst>
              <a:ext uri="{FF2B5EF4-FFF2-40B4-BE49-F238E27FC236}">
                <a16:creationId xmlns:a16="http://schemas.microsoft.com/office/drawing/2014/main" id="{4BA9626C-95E8-EE58-AD06-7AB073DBE5F2}"/>
              </a:ext>
            </a:extLst>
          </p:cNvPr>
          <p:cNvSpPr/>
          <p:nvPr/>
        </p:nvSpPr>
        <p:spPr>
          <a:xfrm>
            <a:off x="9106789" y="86886"/>
            <a:ext cx="1465060" cy="258077"/>
          </a:xfrm>
          <a:prstGeom prst="rect">
            <a:avLst/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Myriad Pro" panose="020B0503030403020204" pitchFamily="34" charset="0"/>
              </a:rPr>
              <a:t>Knowledge Layer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BDE58E-AEDD-B672-8AA6-C9162FAD3386}"/>
              </a:ext>
            </a:extLst>
          </p:cNvPr>
          <p:cNvSpPr/>
          <p:nvPr/>
        </p:nvSpPr>
        <p:spPr>
          <a:xfrm>
            <a:off x="800099" y="1416050"/>
            <a:ext cx="4042065" cy="412341"/>
          </a:xfrm>
          <a:prstGeom prst="roundRect">
            <a:avLst>
              <a:gd name="adj" fmla="val 9442"/>
            </a:avLst>
          </a:prstGeom>
          <a:solidFill>
            <a:schemeClr val="bg2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Myriad Pro" panose="020B0503030403020204" pitchFamily="34" charset="0"/>
              </a:rPr>
              <a:t>Semantic Ontology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2B833B9-D952-DA90-B740-756D136FFB9F}"/>
              </a:ext>
            </a:extLst>
          </p:cNvPr>
          <p:cNvSpPr/>
          <p:nvPr/>
        </p:nvSpPr>
        <p:spPr>
          <a:xfrm>
            <a:off x="5179831" y="1416050"/>
            <a:ext cx="4042065" cy="412341"/>
          </a:xfrm>
          <a:prstGeom prst="roundRect">
            <a:avLst>
              <a:gd name="adj" fmla="val 9442"/>
            </a:avLst>
          </a:prstGeom>
          <a:solidFill>
            <a:schemeClr val="bg2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Myriad Pro" panose="020B0503030403020204" pitchFamily="34" charset="0"/>
              </a:rPr>
              <a:t>Graph DB </a:t>
            </a:r>
            <a:r>
              <a:rPr lang="en-US" sz="1400">
                <a:solidFill>
                  <a:schemeClr val="bg1"/>
                </a:solidFill>
                <a:latin typeface="Myriad Pro" panose="020B0503030403020204" pitchFamily="34" charset="0"/>
              </a:rPr>
              <a:t>(Knowledge Graph)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8250DD-2533-CC3F-21E0-DEAB803115E3}"/>
              </a:ext>
            </a:extLst>
          </p:cNvPr>
          <p:cNvSpPr/>
          <p:nvPr/>
        </p:nvSpPr>
        <p:spPr>
          <a:xfrm>
            <a:off x="6227099" y="4021259"/>
            <a:ext cx="763890" cy="796657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rgbClr val="5A5A5A"/>
                </a:solidFill>
                <a:latin typeface="Myriad Pro" panose="020B0503030403020204" pitchFamily="34" charset="0"/>
              </a:rPr>
              <a:t>Mart</a:t>
            </a:r>
          </a:p>
          <a:p>
            <a:pPr algn="ctr"/>
            <a:r>
              <a:rPr lang="en-US" sz="900">
                <a:solidFill>
                  <a:srgbClr val="5A5A5A"/>
                </a:solidFill>
                <a:latin typeface="Myriad Pro" panose="020B0503030403020204" pitchFamily="34" charset="0"/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B4BA7C-417F-5D5E-B5B1-43003CCEEB25}"/>
              </a:ext>
            </a:extLst>
          </p:cNvPr>
          <p:cNvSpPr/>
          <p:nvPr/>
        </p:nvSpPr>
        <p:spPr>
          <a:xfrm>
            <a:off x="7032064" y="4682262"/>
            <a:ext cx="731520" cy="73152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err="1">
                <a:solidFill>
                  <a:srgbClr val="575757"/>
                </a:solidFill>
                <a:latin typeface="Myriad Pro" panose="020B0503030403020204" pitchFamily="34" charset="0"/>
              </a:rPr>
              <a:t>Distribu-tion</a:t>
            </a:r>
            <a: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  <a:t> Region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Southeast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3566B40-A041-E07D-5C7D-F4DA12453601}"/>
              </a:ext>
            </a:extLst>
          </p:cNvPr>
          <p:cNvSpPr/>
          <p:nvPr/>
        </p:nvSpPr>
        <p:spPr>
          <a:xfrm>
            <a:off x="5479885" y="3075364"/>
            <a:ext cx="822960" cy="82296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Doritos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333639-3DCA-86AC-0A38-5D81967034D6}"/>
              </a:ext>
            </a:extLst>
          </p:cNvPr>
          <p:cNvSpPr/>
          <p:nvPr/>
        </p:nvSpPr>
        <p:spPr>
          <a:xfrm>
            <a:off x="6787889" y="3126501"/>
            <a:ext cx="731520" cy="73152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  <a:t>Warehouse</a:t>
            </a:r>
            <a:b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</a:br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WH123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4901205-5F5B-7540-4037-346927CB08CD}"/>
              </a:ext>
            </a:extLst>
          </p:cNvPr>
          <p:cNvSpPr/>
          <p:nvPr/>
        </p:nvSpPr>
        <p:spPr>
          <a:xfrm>
            <a:off x="8266129" y="2974856"/>
            <a:ext cx="731520" cy="73152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  <a:t>Inventory Level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&gt;50 cases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D01FA26-ECC6-FE25-7AA3-67C43054566B}"/>
              </a:ext>
            </a:extLst>
          </p:cNvPr>
          <p:cNvSpPr/>
          <p:nvPr/>
        </p:nvSpPr>
        <p:spPr>
          <a:xfrm>
            <a:off x="8036701" y="4244026"/>
            <a:ext cx="548640" cy="54864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Tampa, FL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0F933F-E7B2-A784-BC6F-161C04D7D0F4}"/>
              </a:ext>
            </a:extLst>
          </p:cNvPr>
          <p:cNvSpPr/>
          <p:nvPr/>
        </p:nvSpPr>
        <p:spPr>
          <a:xfrm>
            <a:off x="5139078" y="4721214"/>
            <a:ext cx="871334" cy="871334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  <a:t>Contract terms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$XX per case for Doritos in 2026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3DC77A-AB4B-CC2E-DC0D-8A3BEF8EEBB5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532026" y="3340616"/>
            <a:ext cx="734103" cy="85381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C5EDF4-8B11-4CF3-4EF1-684013E4E0B3}"/>
              </a:ext>
            </a:extLst>
          </p:cNvPr>
          <p:cNvCxnSpPr>
            <a:cxnSpLocks/>
            <a:stCxn id="26" idx="5"/>
            <a:endCxn id="28" idx="1"/>
          </p:cNvCxnSpPr>
          <p:nvPr/>
        </p:nvCxnSpPr>
        <p:spPr>
          <a:xfrm>
            <a:off x="7412280" y="3750892"/>
            <a:ext cx="704767" cy="573480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B6C761-BD20-827C-4848-A4D3AB6946DB}"/>
              </a:ext>
            </a:extLst>
          </p:cNvPr>
          <p:cNvSpPr txBox="1"/>
          <p:nvPr/>
        </p:nvSpPr>
        <p:spPr>
          <a:xfrm rot="21346877">
            <a:off x="7542919" y="2980656"/>
            <a:ext cx="667952" cy="48262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Has inventory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4E630-8CBB-DE67-37C3-6721DCA6B1A8}"/>
              </a:ext>
            </a:extLst>
          </p:cNvPr>
          <p:cNvSpPr txBox="1"/>
          <p:nvPr/>
        </p:nvSpPr>
        <p:spPr>
          <a:xfrm rot="2289453">
            <a:off x="7558118" y="3602588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Located 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609AAE-5E1A-7E5F-B539-4D7CF1136A5F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6302845" y="3486844"/>
            <a:ext cx="485044" cy="5417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D150122-2A65-AB4A-C297-670B973B3272}"/>
              </a:ext>
            </a:extLst>
          </p:cNvPr>
          <p:cNvSpPr txBox="1"/>
          <p:nvPr/>
        </p:nvSpPr>
        <p:spPr>
          <a:xfrm>
            <a:off x="6211391" y="3150319"/>
            <a:ext cx="667952" cy="21359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Is </a:t>
            </a:r>
          </a:p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stocked in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A9BAEE3-4234-DFFC-D165-F01BFCBB792E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6990989" y="4550568"/>
            <a:ext cx="148204" cy="238823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CA701C54-20E9-918F-AF6D-1DEA8182F31B}"/>
              </a:ext>
            </a:extLst>
          </p:cNvPr>
          <p:cNvSpPr/>
          <p:nvPr/>
        </p:nvSpPr>
        <p:spPr>
          <a:xfrm>
            <a:off x="5226055" y="3948978"/>
            <a:ext cx="548640" cy="54864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rgbClr val="575757"/>
                </a:solidFill>
                <a:latin typeface="Myriad Pro" panose="020B0503030403020204" pitchFamily="34" charset="0"/>
              </a:rPr>
              <a:t>Loca-</a:t>
            </a:r>
            <a:r>
              <a:rPr lang="en-US" sz="900" err="1">
                <a:solidFill>
                  <a:srgbClr val="575757"/>
                </a:solidFill>
                <a:latin typeface="Myriad Pro" panose="020B0503030403020204" pitchFamily="34" charset="0"/>
              </a:rPr>
              <a:t>tion</a:t>
            </a:r>
            <a:endParaRPr lang="en-US" sz="900">
              <a:solidFill>
                <a:srgbClr val="575757"/>
              </a:solidFill>
              <a:latin typeface="Myriad Pro" panose="020B0503030403020204" pitchFamily="34" charset="0"/>
            </a:endParaRP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Miami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8AF68E-BA50-CC58-FB99-659B176E5581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5743791" y="4331107"/>
            <a:ext cx="483308" cy="88481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A9C2C6-7D79-934E-64C3-FBDBB1FE9DCF}"/>
              </a:ext>
            </a:extLst>
          </p:cNvPr>
          <p:cNvCxnSpPr>
            <a:cxnSpLocks/>
            <a:endCxn id="29" idx="7"/>
          </p:cNvCxnSpPr>
          <p:nvPr/>
        </p:nvCxnSpPr>
        <p:spPr>
          <a:xfrm flipH="1">
            <a:off x="5882808" y="4623020"/>
            <a:ext cx="385317" cy="225798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9411E3D-F450-72D8-A22A-A9712792A27B}"/>
              </a:ext>
            </a:extLst>
          </p:cNvPr>
          <p:cNvCxnSpPr>
            <a:cxnSpLocks/>
          </p:cNvCxnSpPr>
          <p:nvPr/>
        </p:nvCxnSpPr>
        <p:spPr>
          <a:xfrm flipH="1">
            <a:off x="7763584" y="4730451"/>
            <a:ext cx="348536" cy="256233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16C3713-DF90-FDAE-F2D5-E2EB8A6AFC0F}"/>
              </a:ext>
            </a:extLst>
          </p:cNvPr>
          <p:cNvSpPr txBox="1"/>
          <p:nvPr/>
        </p:nvSpPr>
        <p:spPr>
          <a:xfrm rot="2686082">
            <a:off x="6880092" y="4179440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Supplies to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37AFE2-9607-4F66-7117-64EA522D9035}"/>
              </a:ext>
            </a:extLst>
          </p:cNvPr>
          <p:cNvSpPr txBox="1"/>
          <p:nvPr/>
        </p:nvSpPr>
        <p:spPr>
          <a:xfrm rot="530267">
            <a:off x="5688476" y="3879051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Located </a:t>
            </a:r>
          </a:p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73BBD4-8801-80A9-1866-81020414EEBB}"/>
              </a:ext>
            </a:extLst>
          </p:cNvPr>
          <p:cNvSpPr txBox="1"/>
          <p:nvPr/>
        </p:nvSpPr>
        <p:spPr>
          <a:xfrm rot="19479933">
            <a:off x="5787906" y="4434624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Has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54CA40-7079-7510-1D7F-06459D748F33}"/>
              </a:ext>
            </a:extLst>
          </p:cNvPr>
          <p:cNvSpPr/>
          <p:nvPr/>
        </p:nvSpPr>
        <p:spPr>
          <a:xfrm>
            <a:off x="8279227" y="4767445"/>
            <a:ext cx="918484" cy="914400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Delivery route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Next delivery to Miami: next day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F84D22-0F64-E439-1443-619C04BBE2B1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7792730" y="5224645"/>
            <a:ext cx="486497" cy="91133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0DE6FFC-B110-FF31-92A8-7A5E616E5185}"/>
              </a:ext>
            </a:extLst>
          </p:cNvPr>
          <p:cNvSpPr txBox="1"/>
          <p:nvPr/>
        </p:nvSpPr>
        <p:spPr>
          <a:xfrm rot="19445076">
            <a:off x="7549563" y="4363503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Pick up</a:t>
            </a:r>
          </a:p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40FFB1-2A3E-76CE-7EC8-1704C82163AC}"/>
              </a:ext>
            </a:extLst>
          </p:cNvPr>
          <p:cNvSpPr txBox="1"/>
          <p:nvPr/>
        </p:nvSpPr>
        <p:spPr>
          <a:xfrm rot="21032751">
            <a:off x="7680594" y="4822455"/>
            <a:ext cx="667952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  <a:latin typeface="Myriad Pro" panose="020B0503030403020204" pitchFamily="34" charset="0"/>
              </a:rPr>
              <a:t>Has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B393675-2C3F-443E-6908-B90E1B3B0B1A}"/>
              </a:ext>
            </a:extLst>
          </p:cNvPr>
          <p:cNvSpPr/>
          <p:nvPr/>
        </p:nvSpPr>
        <p:spPr>
          <a:xfrm>
            <a:off x="1925237" y="4021259"/>
            <a:ext cx="796658" cy="796658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Myriad Pro" panose="020B0503030403020204" pitchFamily="34" charset="0"/>
              </a:rPr>
              <a:t>Store</a:t>
            </a:r>
          </a:p>
          <a:p>
            <a:pPr algn="ctr"/>
            <a:r>
              <a:rPr lang="en-US" sz="900" i="1">
                <a:solidFill>
                  <a:schemeClr val="tx1"/>
                </a:solidFill>
                <a:latin typeface="Myriad Pro" panose="020B0503030403020204" pitchFamily="34" charset="0"/>
              </a:rPr>
              <a:t>(starting point)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FF5B1BC-E621-1FCC-139E-6E65AE959AB0}"/>
              </a:ext>
            </a:extLst>
          </p:cNvPr>
          <p:cNvSpPr/>
          <p:nvPr/>
        </p:nvSpPr>
        <p:spPr>
          <a:xfrm>
            <a:off x="2817064" y="4682262"/>
            <a:ext cx="796658" cy="796658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 err="1">
                <a:solidFill>
                  <a:schemeClr val="accent6"/>
                </a:solidFill>
                <a:latin typeface="Myriad Pro" panose="020B0503030403020204" pitchFamily="34" charset="0"/>
              </a:rPr>
              <a:t>Distribu-tion</a:t>
            </a:r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 Region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7CBFA3D-F312-6D69-D716-014F5EBA170B}"/>
              </a:ext>
            </a:extLst>
          </p:cNvPr>
          <p:cNvSpPr/>
          <p:nvPr/>
        </p:nvSpPr>
        <p:spPr>
          <a:xfrm>
            <a:off x="1145971" y="3075364"/>
            <a:ext cx="796658" cy="796658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Myriad Pro" panose="020B0503030403020204" pitchFamily="34" charset="0"/>
              </a:rPr>
              <a:t>Product</a:t>
            </a:r>
          </a:p>
          <a:p>
            <a:pPr algn="ctr"/>
            <a:r>
              <a:rPr lang="en-US" sz="900" i="1">
                <a:solidFill>
                  <a:schemeClr val="tx2"/>
                </a:solidFill>
                <a:latin typeface="Myriad Pro" panose="020B0503030403020204" pitchFamily="34" charset="0"/>
              </a:rPr>
              <a:t>(starting point)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9E8933E-C5AF-4904-B88D-D281CE249C48}"/>
              </a:ext>
            </a:extLst>
          </p:cNvPr>
          <p:cNvSpPr/>
          <p:nvPr/>
        </p:nvSpPr>
        <p:spPr>
          <a:xfrm>
            <a:off x="2510084" y="3126500"/>
            <a:ext cx="796658" cy="796658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Warehouse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C03EC1F-6442-A837-7AE8-2AB521E0428C}"/>
              </a:ext>
            </a:extLst>
          </p:cNvPr>
          <p:cNvSpPr/>
          <p:nvPr/>
        </p:nvSpPr>
        <p:spPr>
          <a:xfrm>
            <a:off x="4051735" y="2974856"/>
            <a:ext cx="751787" cy="751786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Inventory Level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92626B2-A2D7-21DA-EB61-9E3B375D7768}"/>
              </a:ext>
            </a:extLst>
          </p:cNvPr>
          <p:cNvSpPr/>
          <p:nvPr/>
        </p:nvSpPr>
        <p:spPr>
          <a:xfrm>
            <a:off x="3812467" y="4244026"/>
            <a:ext cx="594624" cy="594623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Location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526045B-465A-7CB4-2CCE-D36501A2B1F9}"/>
              </a:ext>
            </a:extLst>
          </p:cNvPr>
          <p:cNvSpPr/>
          <p:nvPr/>
        </p:nvSpPr>
        <p:spPr>
          <a:xfrm>
            <a:off x="931360" y="4721213"/>
            <a:ext cx="796658" cy="796658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Contract terms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F7BDB12-1178-FF06-B0C5-85D4205D85AD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3286141" y="3350749"/>
            <a:ext cx="765594" cy="75248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D2D4CFA-B567-5401-E7B4-1EFD87EDE40B}"/>
              </a:ext>
            </a:extLst>
          </p:cNvPr>
          <p:cNvCxnSpPr>
            <a:cxnSpLocks/>
            <a:stCxn id="59" idx="5"/>
            <a:endCxn id="61" idx="1"/>
          </p:cNvCxnSpPr>
          <p:nvPr/>
        </p:nvCxnSpPr>
        <p:spPr>
          <a:xfrm>
            <a:off x="3190075" y="3806491"/>
            <a:ext cx="709472" cy="524616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3613978-C1EE-4E49-8A40-F9FA126E6860}"/>
              </a:ext>
            </a:extLst>
          </p:cNvPr>
          <p:cNvSpPr txBox="1"/>
          <p:nvPr/>
        </p:nvSpPr>
        <p:spPr>
          <a:xfrm rot="21313703">
            <a:off x="3282038" y="2872253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Has inventory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5FF12FA-377D-F216-82FC-96E98E7BC4CD}"/>
              </a:ext>
            </a:extLst>
          </p:cNvPr>
          <p:cNvSpPr txBox="1"/>
          <p:nvPr/>
        </p:nvSpPr>
        <p:spPr>
          <a:xfrm rot="2289453">
            <a:off x="3308565" y="3698174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Located in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F8590BF-D089-E121-A4FA-D9927D142E16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1951879" y="3511555"/>
            <a:ext cx="558205" cy="13275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922B649-CAAC-06A4-1F85-B321BE2485C8}"/>
              </a:ext>
            </a:extLst>
          </p:cNvPr>
          <p:cNvSpPr txBox="1"/>
          <p:nvPr/>
        </p:nvSpPr>
        <p:spPr>
          <a:xfrm>
            <a:off x="1869553" y="3235572"/>
            <a:ext cx="696605" cy="21359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Is 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stocked 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6505147-1A36-421E-4F9B-674D702C47A1}"/>
              </a:ext>
            </a:extLst>
          </p:cNvPr>
          <p:cNvCxnSpPr>
            <a:cxnSpLocks/>
            <a:stCxn id="57" idx="1"/>
          </p:cNvCxnSpPr>
          <p:nvPr/>
        </p:nvCxnSpPr>
        <p:spPr>
          <a:xfrm flipH="1" flipV="1">
            <a:off x="2721895" y="4550568"/>
            <a:ext cx="211837" cy="248361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B3AC436-5DA4-1326-FB99-A2F3E2C07A44}"/>
              </a:ext>
            </a:extLst>
          </p:cNvPr>
          <p:cNvSpPr/>
          <p:nvPr/>
        </p:nvSpPr>
        <p:spPr>
          <a:xfrm>
            <a:off x="867259" y="3911047"/>
            <a:ext cx="594624" cy="594623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Location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8142F5-938B-99EE-1929-BFC005025523}"/>
              </a:ext>
            </a:extLst>
          </p:cNvPr>
          <p:cNvCxnSpPr>
            <a:cxnSpLocks/>
            <a:stCxn id="56" idx="2"/>
          </p:cNvCxnSpPr>
          <p:nvPr/>
        </p:nvCxnSpPr>
        <p:spPr>
          <a:xfrm flipH="1" flipV="1">
            <a:off x="1397496" y="4385974"/>
            <a:ext cx="527741" cy="33614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AA47B2B-6D4B-ED09-DBDA-6DFE0C2043E2}"/>
              </a:ext>
            </a:extLst>
          </p:cNvPr>
          <p:cNvCxnSpPr>
            <a:cxnSpLocks/>
            <a:endCxn id="62" idx="7"/>
          </p:cNvCxnSpPr>
          <p:nvPr/>
        </p:nvCxnSpPr>
        <p:spPr>
          <a:xfrm flipH="1">
            <a:off x="1611351" y="4623021"/>
            <a:ext cx="356672" cy="214861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B9A0BEB-14E9-71AF-5355-0362FFFEF159}"/>
              </a:ext>
            </a:extLst>
          </p:cNvPr>
          <p:cNvCxnSpPr>
            <a:cxnSpLocks/>
          </p:cNvCxnSpPr>
          <p:nvPr/>
        </p:nvCxnSpPr>
        <p:spPr>
          <a:xfrm flipH="1">
            <a:off x="3601632" y="4740597"/>
            <a:ext cx="254050" cy="218456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38DA715-6175-8539-8C5A-5C0B8B821FDD}"/>
              </a:ext>
            </a:extLst>
          </p:cNvPr>
          <p:cNvSpPr txBox="1"/>
          <p:nvPr/>
        </p:nvSpPr>
        <p:spPr>
          <a:xfrm rot="2289453">
            <a:off x="2635403" y="4149316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Supplies to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1EECC6-2F17-4DD9-7B77-375B1ABCB079}"/>
              </a:ext>
            </a:extLst>
          </p:cNvPr>
          <p:cNvSpPr txBox="1"/>
          <p:nvPr/>
        </p:nvSpPr>
        <p:spPr>
          <a:xfrm rot="181707">
            <a:off x="1339695" y="3912038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Located 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in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805D65-D259-B416-2FFE-FA90437A770F}"/>
              </a:ext>
            </a:extLst>
          </p:cNvPr>
          <p:cNvSpPr txBox="1"/>
          <p:nvPr/>
        </p:nvSpPr>
        <p:spPr>
          <a:xfrm rot="19479933">
            <a:off x="1467204" y="4434625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Has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9161B30-3E60-FFE8-E4B6-A4B61F83C769}"/>
              </a:ext>
            </a:extLst>
          </p:cNvPr>
          <p:cNvSpPr/>
          <p:nvPr/>
        </p:nvSpPr>
        <p:spPr>
          <a:xfrm>
            <a:off x="4057988" y="5077919"/>
            <a:ext cx="594624" cy="594623"/>
          </a:xfrm>
          <a:prstGeom prst="ellipse">
            <a:avLst/>
          </a:prstGeom>
          <a:solidFill>
            <a:schemeClr val="bg1"/>
          </a:solidFill>
          <a:ln w="19050" cap="rnd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Delivery route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BCAF74-FA32-3100-7449-659ED5CDFD37}"/>
              </a:ext>
            </a:extLst>
          </p:cNvPr>
          <p:cNvCxnSpPr>
            <a:cxnSpLocks/>
            <a:endCxn id="46" idx="2"/>
          </p:cNvCxnSpPr>
          <p:nvPr/>
        </p:nvCxnSpPr>
        <p:spPr>
          <a:xfrm>
            <a:off x="3550622" y="5315778"/>
            <a:ext cx="507366" cy="59453"/>
          </a:xfrm>
          <a:prstGeom prst="straightConnector1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C5570B2-C9CF-436C-E337-4FA351462112}"/>
              </a:ext>
            </a:extLst>
          </p:cNvPr>
          <p:cNvSpPr txBox="1"/>
          <p:nvPr/>
        </p:nvSpPr>
        <p:spPr>
          <a:xfrm rot="18900000">
            <a:off x="3338094" y="4363212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Pick up</a:t>
            </a:r>
          </a:p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at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FC2657-7CDB-D18B-A733-B103983406F6}"/>
              </a:ext>
            </a:extLst>
          </p:cNvPr>
          <p:cNvSpPr txBox="1"/>
          <p:nvPr/>
        </p:nvSpPr>
        <p:spPr>
          <a:xfrm rot="544969">
            <a:off x="3459829" y="4916392"/>
            <a:ext cx="696605" cy="69660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00">
                <a:solidFill>
                  <a:schemeClr val="accent6"/>
                </a:solidFill>
                <a:latin typeface="Myriad Pro" panose="020B0503030403020204" pitchFamily="34" charset="0"/>
              </a:rPr>
              <a:t>Has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E03EAD8-AEBA-E750-F9BE-B6E74A8D34FA}"/>
              </a:ext>
            </a:extLst>
          </p:cNvPr>
          <p:cNvGrpSpPr>
            <a:grpSpLocks noChangeAspect="1"/>
          </p:cNvGrpSpPr>
          <p:nvPr/>
        </p:nvGrpSpPr>
        <p:grpSpPr>
          <a:xfrm>
            <a:off x="1458626" y="3681203"/>
            <a:ext cx="171348" cy="171348"/>
            <a:chOff x="982659" y="3463925"/>
            <a:chExt cx="269874" cy="269875"/>
          </a:xfrm>
        </p:grpSpPr>
        <p:sp>
          <p:nvSpPr>
            <p:cNvPr id="54" name="Oval 14">
              <a:extLst>
                <a:ext uri="{FF2B5EF4-FFF2-40B4-BE49-F238E27FC236}">
                  <a16:creationId xmlns:a16="http://schemas.microsoft.com/office/drawing/2014/main" id="{F3982219-F895-61CD-8198-ABBD47000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59" y="3463925"/>
              <a:ext cx="269874" cy="26987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solidFill>
                  <a:schemeClr val="accent5"/>
                </a:solidFill>
              </a:endParaRPr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2137216-CDCE-509B-42B7-1CFA866B0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811" y="3522663"/>
              <a:ext cx="157162" cy="150812"/>
            </a:xfrm>
            <a:custGeom>
              <a:avLst/>
              <a:gdLst>
                <a:gd name="T0" fmla="*/ 704 w 736"/>
                <a:gd name="T1" fmla="*/ 250 h 709"/>
                <a:gd name="T2" fmla="*/ 496 w 736"/>
                <a:gd name="T3" fmla="*/ 218 h 709"/>
                <a:gd name="T4" fmla="*/ 392 w 736"/>
                <a:gd name="T5" fmla="*/ 24 h 709"/>
                <a:gd name="T6" fmla="*/ 336 w 736"/>
                <a:gd name="T7" fmla="*/ 24 h 709"/>
                <a:gd name="T8" fmla="*/ 240 w 736"/>
                <a:gd name="T9" fmla="*/ 218 h 709"/>
                <a:gd name="T10" fmla="*/ 24 w 736"/>
                <a:gd name="T11" fmla="*/ 242 h 709"/>
                <a:gd name="T12" fmla="*/ 0 w 736"/>
                <a:gd name="T13" fmla="*/ 266 h 709"/>
                <a:gd name="T14" fmla="*/ 8 w 736"/>
                <a:gd name="T15" fmla="*/ 290 h 709"/>
                <a:gd name="T16" fmla="*/ 168 w 736"/>
                <a:gd name="T17" fmla="*/ 451 h 709"/>
                <a:gd name="T18" fmla="*/ 128 w 736"/>
                <a:gd name="T19" fmla="*/ 661 h 709"/>
                <a:gd name="T20" fmla="*/ 144 w 736"/>
                <a:gd name="T21" fmla="*/ 693 h 709"/>
                <a:gd name="T22" fmla="*/ 176 w 736"/>
                <a:gd name="T23" fmla="*/ 701 h 709"/>
                <a:gd name="T24" fmla="*/ 360 w 736"/>
                <a:gd name="T25" fmla="*/ 597 h 709"/>
                <a:gd name="T26" fmla="*/ 552 w 736"/>
                <a:gd name="T27" fmla="*/ 709 h 709"/>
                <a:gd name="T28" fmla="*/ 568 w 736"/>
                <a:gd name="T29" fmla="*/ 709 h 709"/>
                <a:gd name="T30" fmla="*/ 584 w 736"/>
                <a:gd name="T31" fmla="*/ 709 h 709"/>
                <a:gd name="T32" fmla="*/ 600 w 736"/>
                <a:gd name="T33" fmla="*/ 677 h 709"/>
                <a:gd name="T34" fmla="*/ 568 w 736"/>
                <a:gd name="T35" fmla="*/ 451 h 709"/>
                <a:gd name="T36" fmla="*/ 720 w 736"/>
                <a:gd name="T37" fmla="*/ 306 h 709"/>
                <a:gd name="T38" fmla="*/ 728 w 736"/>
                <a:gd name="T39" fmla="*/ 274 h 709"/>
                <a:gd name="T40" fmla="*/ 704 w 736"/>
                <a:gd name="T41" fmla="*/ 250 h 709"/>
                <a:gd name="T42" fmla="*/ 512 w 736"/>
                <a:gd name="T43" fmla="*/ 419 h 709"/>
                <a:gd name="T44" fmla="*/ 504 w 736"/>
                <a:gd name="T45" fmla="*/ 443 h 709"/>
                <a:gd name="T46" fmla="*/ 528 w 736"/>
                <a:gd name="T47" fmla="*/ 621 h 709"/>
                <a:gd name="T48" fmla="*/ 384 w 736"/>
                <a:gd name="T49" fmla="*/ 532 h 709"/>
                <a:gd name="T50" fmla="*/ 360 w 736"/>
                <a:gd name="T51" fmla="*/ 532 h 709"/>
                <a:gd name="T52" fmla="*/ 352 w 736"/>
                <a:gd name="T53" fmla="*/ 532 h 709"/>
                <a:gd name="T54" fmla="*/ 208 w 736"/>
                <a:gd name="T55" fmla="*/ 613 h 709"/>
                <a:gd name="T56" fmla="*/ 232 w 736"/>
                <a:gd name="T57" fmla="*/ 443 h 709"/>
                <a:gd name="T58" fmla="*/ 224 w 736"/>
                <a:gd name="T59" fmla="*/ 419 h 709"/>
                <a:gd name="T60" fmla="*/ 104 w 736"/>
                <a:gd name="T61" fmla="*/ 298 h 709"/>
                <a:gd name="T62" fmla="*/ 264 w 736"/>
                <a:gd name="T63" fmla="*/ 282 h 709"/>
                <a:gd name="T64" fmla="*/ 288 w 736"/>
                <a:gd name="T65" fmla="*/ 266 h 709"/>
                <a:gd name="T66" fmla="*/ 360 w 736"/>
                <a:gd name="T67" fmla="*/ 105 h 709"/>
                <a:gd name="T68" fmla="*/ 440 w 736"/>
                <a:gd name="T69" fmla="*/ 266 h 709"/>
                <a:gd name="T70" fmla="*/ 464 w 736"/>
                <a:gd name="T71" fmla="*/ 282 h 709"/>
                <a:gd name="T72" fmla="*/ 632 w 736"/>
                <a:gd name="T73" fmla="*/ 306 h 709"/>
                <a:gd name="T74" fmla="*/ 512 w 736"/>
                <a:gd name="T75" fmla="*/ 41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36" h="709">
                  <a:moveTo>
                    <a:pt x="704" y="250"/>
                  </a:moveTo>
                  <a:cubicBezTo>
                    <a:pt x="704" y="250"/>
                    <a:pt x="704" y="250"/>
                    <a:pt x="496" y="218"/>
                  </a:cubicBezTo>
                  <a:cubicBezTo>
                    <a:pt x="496" y="218"/>
                    <a:pt x="496" y="218"/>
                    <a:pt x="392" y="24"/>
                  </a:cubicBezTo>
                  <a:cubicBezTo>
                    <a:pt x="384" y="0"/>
                    <a:pt x="352" y="0"/>
                    <a:pt x="336" y="24"/>
                  </a:cubicBezTo>
                  <a:cubicBezTo>
                    <a:pt x="336" y="24"/>
                    <a:pt x="336" y="24"/>
                    <a:pt x="240" y="218"/>
                  </a:cubicBezTo>
                  <a:cubicBezTo>
                    <a:pt x="240" y="218"/>
                    <a:pt x="240" y="218"/>
                    <a:pt x="24" y="242"/>
                  </a:cubicBezTo>
                  <a:cubicBezTo>
                    <a:pt x="16" y="242"/>
                    <a:pt x="8" y="250"/>
                    <a:pt x="0" y="266"/>
                  </a:cubicBezTo>
                  <a:cubicBezTo>
                    <a:pt x="0" y="274"/>
                    <a:pt x="0" y="290"/>
                    <a:pt x="8" y="290"/>
                  </a:cubicBezTo>
                  <a:cubicBezTo>
                    <a:pt x="8" y="290"/>
                    <a:pt x="8" y="290"/>
                    <a:pt x="168" y="451"/>
                  </a:cubicBezTo>
                  <a:cubicBezTo>
                    <a:pt x="168" y="451"/>
                    <a:pt x="168" y="451"/>
                    <a:pt x="128" y="661"/>
                  </a:cubicBezTo>
                  <a:cubicBezTo>
                    <a:pt x="128" y="677"/>
                    <a:pt x="136" y="685"/>
                    <a:pt x="144" y="693"/>
                  </a:cubicBezTo>
                  <a:cubicBezTo>
                    <a:pt x="160" y="701"/>
                    <a:pt x="168" y="701"/>
                    <a:pt x="176" y="701"/>
                  </a:cubicBezTo>
                  <a:cubicBezTo>
                    <a:pt x="176" y="701"/>
                    <a:pt x="176" y="701"/>
                    <a:pt x="360" y="597"/>
                  </a:cubicBezTo>
                  <a:cubicBezTo>
                    <a:pt x="360" y="597"/>
                    <a:pt x="360" y="597"/>
                    <a:pt x="552" y="709"/>
                  </a:cubicBezTo>
                  <a:cubicBezTo>
                    <a:pt x="560" y="709"/>
                    <a:pt x="560" y="709"/>
                    <a:pt x="568" y="709"/>
                  </a:cubicBezTo>
                  <a:cubicBezTo>
                    <a:pt x="576" y="709"/>
                    <a:pt x="584" y="709"/>
                    <a:pt x="584" y="709"/>
                  </a:cubicBezTo>
                  <a:cubicBezTo>
                    <a:pt x="600" y="701"/>
                    <a:pt x="600" y="685"/>
                    <a:pt x="600" y="677"/>
                  </a:cubicBezTo>
                  <a:cubicBezTo>
                    <a:pt x="600" y="677"/>
                    <a:pt x="600" y="677"/>
                    <a:pt x="568" y="451"/>
                  </a:cubicBezTo>
                  <a:cubicBezTo>
                    <a:pt x="568" y="451"/>
                    <a:pt x="568" y="451"/>
                    <a:pt x="720" y="306"/>
                  </a:cubicBezTo>
                  <a:cubicBezTo>
                    <a:pt x="728" y="298"/>
                    <a:pt x="736" y="290"/>
                    <a:pt x="728" y="274"/>
                  </a:cubicBezTo>
                  <a:cubicBezTo>
                    <a:pt x="728" y="266"/>
                    <a:pt x="712" y="250"/>
                    <a:pt x="704" y="250"/>
                  </a:cubicBezTo>
                  <a:close/>
                  <a:moveTo>
                    <a:pt x="512" y="419"/>
                  </a:moveTo>
                  <a:cubicBezTo>
                    <a:pt x="504" y="419"/>
                    <a:pt x="504" y="435"/>
                    <a:pt x="504" y="443"/>
                  </a:cubicBezTo>
                  <a:cubicBezTo>
                    <a:pt x="504" y="443"/>
                    <a:pt x="504" y="443"/>
                    <a:pt x="528" y="621"/>
                  </a:cubicBezTo>
                  <a:cubicBezTo>
                    <a:pt x="528" y="621"/>
                    <a:pt x="528" y="621"/>
                    <a:pt x="384" y="532"/>
                  </a:cubicBezTo>
                  <a:cubicBezTo>
                    <a:pt x="376" y="532"/>
                    <a:pt x="376" y="532"/>
                    <a:pt x="360" y="532"/>
                  </a:cubicBezTo>
                  <a:cubicBezTo>
                    <a:pt x="352" y="532"/>
                    <a:pt x="352" y="532"/>
                    <a:pt x="352" y="532"/>
                  </a:cubicBezTo>
                  <a:cubicBezTo>
                    <a:pt x="352" y="532"/>
                    <a:pt x="352" y="532"/>
                    <a:pt x="208" y="613"/>
                  </a:cubicBezTo>
                  <a:cubicBezTo>
                    <a:pt x="208" y="613"/>
                    <a:pt x="208" y="613"/>
                    <a:pt x="232" y="443"/>
                  </a:cubicBezTo>
                  <a:cubicBezTo>
                    <a:pt x="232" y="435"/>
                    <a:pt x="224" y="419"/>
                    <a:pt x="224" y="419"/>
                  </a:cubicBezTo>
                  <a:cubicBezTo>
                    <a:pt x="224" y="419"/>
                    <a:pt x="224" y="419"/>
                    <a:pt x="104" y="298"/>
                  </a:cubicBezTo>
                  <a:cubicBezTo>
                    <a:pt x="104" y="298"/>
                    <a:pt x="104" y="298"/>
                    <a:pt x="264" y="282"/>
                  </a:cubicBezTo>
                  <a:cubicBezTo>
                    <a:pt x="272" y="282"/>
                    <a:pt x="280" y="274"/>
                    <a:pt x="288" y="266"/>
                  </a:cubicBezTo>
                  <a:cubicBezTo>
                    <a:pt x="288" y="266"/>
                    <a:pt x="288" y="266"/>
                    <a:pt x="360" y="105"/>
                  </a:cubicBezTo>
                  <a:cubicBezTo>
                    <a:pt x="360" y="105"/>
                    <a:pt x="360" y="105"/>
                    <a:pt x="440" y="266"/>
                  </a:cubicBezTo>
                  <a:cubicBezTo>
                    <a:pt x="448" y="274"/>
                    <a:pt x="456" y="282"/>
                    <a:pt x="464" y="282"/>
                  </a:cubicBezTo>
                  <a:cubicBezTo>
                    <a:pt x="464" y="282"/>
                    <a:pt x="464" y="282"/>
                    <a:pt x="632" y="306"/>
                  </a:cubicBezTo>
                  <a:cubicBezTo>
                    <a:pt x="632" y="306"/>
                    <a:pt x="632" y="306"/>
                    <a:pt x="512" y="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51528A-5376-03F2-7169-D76FBA27ABA0}"/>
              </a:ext>
            </a:extLst>
          </p:cNvPr>
          <p:cNvGrpSpPr>
            <a:grpSpLocks noChangeAspect="1"/>
          </p:cNvGrpSpPr>
          <p:nvPr/>
        </p:nvGrpSpPr>
        <p:grpSpPr>
          <a:xfrm>
            <a:off x="2214126" y="4611578"/>
            <a:ext cx="171348" cy="171348"/>
            <a:chOff x="982659" y="3463925"/>
            <a:chExt cx="269874" cy="269875"/>
          </a:xfrm>
        </p:grpSpPr>
        <p:sp>
          <p:nvSpPr>
            <p:cNvPr id="52" name="Oval 14">
              <a:extLst>
                <a:ext uri="{FF2B5EF4-FFF2-40B4-BE49-F238E27FC236}">
                  <a16:creationId xmlns:a16="http://schemas.microsoft.com/office/drawing/2014/main" id="{DA8A4D9B-0AB2-CF8D-E684-AC41CEBD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59" y="3463925"/>
              <a:ext cx="269874" cy="26987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3536DB62-DA83-69C3-4555-2E75F8F00B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9811" y="3522663"/>
              <a:ext cx="157162" cy="150812"/>
            </a:xfrm>
            <a:custGeom>
              <a:avLst/>
              <a:gdLst>
                <a:gd name="T0" fmla="*/ 704 w 736"/>
                <a:gd name="T1" fmla="*/ 250 h 709"/>
                <a:gd name="T2" fmla="*/ 496 w 736"/>
                <a:gd name="T3" fmla="*/ 218 h 709"/>
                <a:gd name="T4" fmla="*/ 392 w 736"/>
                <a:gd name="T5" fmla="*/ 24 h 709"/>
                <a:gd name="T6" fmla="*/ 336 w 736"/>
                <a:gd name="T7" fmla="*/ 24 h 709"/>
                <a:gd name="T8" fmla="*/ 240 w 736"/>
                <a:gd name="T9" fmla="*/ 218 h 709"/>
                <a:gd name="T10" fmla="*/ 24 w 736"/>
                <a:gd name="T11" fmla="*/ 242 h 709"/>
                <a:gd name="T12" fmla="*/ 0 w 736"/>
                <a:gd name="T13" fmla="*/ 266 h 709"/>
                <a:gd name="T14" fmla="*/ 8 w 736"/>
                <a:gd name="T15" fmla="*/ 290 h 709"/>
                <a:gd name="T16" fmla="*/ 168 w 736"/>
                <a:gd name="T17" fmla="*/ 451 h 709"/>
                <a:gd name="T18" fmla="*/ 128 w 736"/>
                <a:gd name="T19" fmla="*/ 661 h 709"/>
                <a:gd name="T20" fmla="*/ 144 w 736"/>
                <a:gd name="T21" fmla="*/ 693 h 709"/>
                <a:gd name="T22" fmla="*/ 176 w 736"/>
                <a:gd name="T23" fmla="*/ 701 h 709"/>
                <a:gd name="T24" fmla="*/ 360 w 736"/>
                <a:gd name="T25" fmla="*/ 597 h 709"/>
                <a:gd name="T26" fmla="*/ 552 w 736"/>
                <a:gd name="T27" fmla="*/ 709 h 709"/>
                <a:gd name="T28" fmla="*/ 568 w 736"/>
                <a:gd name="T29" fmla="*/ 709 h 709"/>
                <a:gd name="T30" fmla="*/ 584 w 736"/>
                <a:gd name="T31" fmla="*/ 709 h 709"/>
                <a:gd name="T32" fmla="*/ 600 w 736"/>
                <a:gd name="T33" fmla="*/ 677 h 709"/>
                <a:gd name="T34" fmla="*/ 568 w 736"/>
                <a:gd name="T35" fmla="*/ 451 h 709"/>
                <a:gd name="T36" fmla="*/ 720 w 736"/>
                <a:gd name="T37" fmla="*/ 306 h 709"/>
                <a:gd name="T38" fmla="*/ 728 w 736"/>
                <a:gd name="T39" fmla="*/ 274 h 709"/>
                <a:gd name="T40" fmla="*/ 704 w 736"/>
                <a:gd name="T41" fmla="*/ 250 h 709"/>
                <a:gd name="T42" fmla="*/ 512 w 736"/>
                <a:gd name="T43" fmla="*/ 419 h 709"/>
                <a:gd name="T44" fmla="*/ 504 w 736"/>
                <a:gd name="T45" fmla="*/ 443 h 709"/>
                <a:gd name="T46" fmla="*/ 528 w 736"/>
                <a:gd name="T47" fmla="*/ 621 h 709"/>
                <a:gd name="T48" fmla="*/ 384 w 736"/>
                <a:gd name="T49" fmla="*/ 532 h 709"/>
                <a:gd name="T50" fmla="*/ 360 w 736"/>
                <a:gd name="T51" fmla="*/ 532 h 709"/>
                <a:gd name="T52" fmla="*/ 352 w 736"/>
                <a:gd name="T53" fmla="*/ 532 h 709"/>
                <a:gd name="T54" fmla="*/ 208 w 736"/>
                <a:gd name="T55" fmla="*/ 613 h 709"/>
                <a:gd name="T56" fmla="*/ 232 w 736"/>
                <a:gd name="T57" fmla="*/ 443 h 709"/>
                <a:gd name="T58" fmla="*/ 224 w 736"/>
                <a:gd name="T59" fmla="*/ 419 h 709"/>
                <a:gd name="T60" fmla="*/ 104 w 736"/>
                <a:gd name="T61" fmla="*/ 298 h 709"/>
                <a:gd name="T62" fmla="*/ 264 w 736"/>
                <a:gd name="T63" fmla="*/ 282 h 709"/>
                <a:gd name="T64" fmla="*/ 288 w 736"/>
                <a:gd name="T65" fmla="*/ 266 h 709"/>
                <a:gd name="T66" fmla="*/ 360 w 736"/>
                <a:gd name="T67" fmla="*/ 105 h 709"/>
                <a:gd name="T68" fmla="*/ 440 w 736"/>
                <a:gd name="T69" fmla="*/ 266 h 709"/>
                <a:gd name="T70" fmla="*/ 464 w 736"/>
                <a:gd name="T71" fmla="*/ 282 h 709"/>
                <a:gd name="T72" fmla="*/ 632 w 736"/>
                <a:gd name="T73" fmla="*/ 306 h 709"/>
                <a:gd name="T74" fmla="*/ 512 w 736"/>
                <a:gd name="T75" fmla="*/ 41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36" h="709">
                  <a:moveTo>
                    <a:pt x="704" y="250"/>
                  </a:moveTo>
                  <a:cubicBezTo>
                    <a:pt x="704" y="250"/>
                    <a:pt x="704" y="250"/>
                    <a:pt x="496" y="218"/>
                  </a:cubicBezTo>
                  <a:cubicBezTo>
                    <a:pt x="496" y="218"/>
                    <a:pt x="496" y="218"/>
                    <a:pt x="392" y="24"/>
                  </a:cubicBezTo>
                  <a:cubicBezTo>
                    <a:pt x="384" y="0"/>
                    <a:pt x="352" y="0"/>
                    <a:pt x="336" y="24"/>
                  </a:cubicBezTo>
                  <a:cubicBezTo>
                    <a:pt x="336" y="24"/>
                    <a:pt x="336" y="24"/>
                    <a:pt x="240" y="218"/>
                  </a:cubicBezTo>
                  <a:cubicBezTo>
                    <a:pt x="240" y="218"/>
                    <a:pt x="240" y="218"/>
                    <a:pt x="24" y="242"/>
                  </a:cubicBezTo>
                  <a:cubicBezTo>
                    <a:pt x="16" y="242"/>
                    <a:pt x="8" y="250"/>
                    <a:pt x="0" y="266"/>
                  </a:cubicBezTo>
                  <a:cubicBezTo>
                    <a:pt x="0" y="274"/>
                    <a:pt x="0" y="290"/>
                    <a:pt x="8" y="290"/>
                  </a:cubicBezTo>
                  <a:cubicBezTo>
                    <a:pt x="8" y="290"/>
                    <a:pt x="8" y="290"/>
                    <a:pt x="168" y="451"/>
                  </a:cubicBezTo>
                  <a:cubicBezTo>
                    <a:pt x="168" y="451"/>
                    <a:pt x="168" y="451"/>
                    <a:pt x="128" y="661"/>
                  </a:cubicBezTo>
                  <a:cubicBezTo>
                    <a:pt x="128" y="677"/>
                    <a:pt x="136" y="685"/>
                    <a:pt x="144" y="693"/>
                  </a:cubicBezTo>
                  <a:cubicBezTo>
                    <a:pt x="160" y="701"/>
                    <a:pt x="168" y="701"/>
                    <a:pt x="176" y="701"/>
                  </a:cubicBezTo>
                  <a:cubicBezTo>
                    <a:pt x="176" y="701"/>
                    <a:pt x="176" y="701"/>
                    <a:pt x="360" y="597"/>
                  </a:cubicBezTo>
                  <a:cubicBezTo>
                    <a:pt x="360" y="597"/>
                    <a:pt x="360" y="597"/>
                    <a:pt x="552" y="709"/>
                  </a:cubicBezTo>
                  <a:cubicBezTo>
                    <a:pt x="560" y="709"/>
                    <a:pt x="560" y="709"/>
                    <a:pt x="568" y="709"/>
                  </a:cubicBezTo>
                  <a:cubicBezTo>
                    <a:pt x="576" y="709"/>
                    <a:pt x="584" y="709"/>
                    <a:pt x="584" y="709"/>
                  </a:cubicBezTo>
                  <a:cubicBezTo>
                    <a:pt x="600" y="701"/>
                    <a:pt x="600" y="685"/>
                    <a:pt x="600" y="677"/>
                  </a:cubicBezTo>
                  <a:cubicBezTo>
                    <a:pt x="600" y="677"/>
                    <a:pt x="600" y="677"/>
                    <a:pt x="568" y="451"/>
                  </a:cubicBezTo>
                  <a:cubicBezTo>
                    <a:pt x="568" y="451"/>
                    <a:pt x="568" y="451"/>
                    <a:pt x="720" y="306"/>
                  </a:cubicBezTo>
                  <a:cubicBezTo>
                    <a:pt x="728" y="298"/>
                    <a:pt x="736" y="290"/>
                    <a:pt x="728" y="274"/>
                  </a:cubicBezTo>
                  <a:cubicBezTo>
                    <a:pt x="728" y="266"/>
                    <a:pt x="712" y="250"/>
                    <a:pt x="704" y="250"/>
                  </a:cubicBezTo>
                  <a:close/>
                  <a:moveTo>
                    <a:pt x="512" y="419"/>
                  </a:moveTo>
                  <a:cubicBezTo>
                    <a:pt x="504" y="419"/>
                    <a:pt x="504" y="435"/>
                    <a:pt x="504" y="443"/>
                  </a:cubicBezTo>
                  <a:cubicBezTo>
                    <a:pt x="504" y="443"/>
                    <a:pt x="504" y="443"/>
                    <a:pt x="528" y="621"/>
                  </a:cubicBezTo>
                  <a:cubicBezTo>
                    <a:pt x="528" y="621"/>
                    <a:pt x="528" y="621"/>
                    <a:pt x="384" y="532"/>
                  </a:cubicBezTo>
                  <a:cubicBezTo>
                    <a:pt x="376" y="532"/>
                    <a:pt x="376" y="532"/>
                    <a:pt x="360" y="532"/>
                  </a:cubicBezTo>
                  <a:cubicBezTo>
                    <a:pt x="352" y="532"/>
                    <a:pt x="352" y="532"/>
                    <a:pt x="352" y="532"/>
                  </a:cubicBezTo>
                  <a:cubicBezTo>
                    <a:pt x="352" y="532"/>
                    <a:pt x="352" y="532"/>
                    <a:pt x="208" y="613"/>
                  </a:cubicBezTo>
                  <a:cubicBezTo>
                    <a:pt x="208" y="613"/>
                    <a:pt x="208" y="613"/>
                    <a:pt x="232" y="443"/>
                  </a:cubicBezTo>
                  <a:cubicBezTo>
                    <a:pt x="232" y="435"/>
                    <a:pt x="224" y="419"/>
                    <a:pt x="224" y="419"/>
                  </a:cubicBezTo>
                  <a:cubicBezTo>
                    <a:pt x="224" y="419"/>
                    <a:pt x="224" y="419"/>
                    <a:pt x="104" y="298"/>
                  </a:cubicBezTo>
                  <a:cubicBezTo>
                    <a:pt x="104" y="298"/>
                    <a:pt x="104" y="298"/>
                    <a:pt x="264" y="282"/>
                  </a:cubicBezTo>
                  <a:cubicBezTo>
                    <a:pt x="272" y="282"/>
                    <a:pt x="280" y="274"/>
                    <a:pt x="288" y="266"/>
                  </a:cubicBezTo>
                  <a:cubicBezTo>
                    <a:pt x="288" y="266"/>
                    <a:pt x="288" y="266"/>
                    <a:pt x="360" y="105"/>
                  </a:cubicBezTo>
                  <a:cubicBezTo>
                    <a:pt x="360" y="105"/>
                    <a:pt x="360" y="105"/>
                    <a:pt x="440" y="266"/>
                  </a:cubicBezTo>
                  <a:cubicBezTo>
                    <a:pt x="448" y="274"/>
                    <a:pt x="456" y="282"/>
                    <a:pt x="464" y="282"/>
                  </a:cubicBezTo>
                  <a:cubicBezTo>
                    <a:pt x="464" y="282"/>
                    <a:pt x="464" y="282"/>
                    <a:pt x="632" y="306"/>
                  </a:cubicBezTo>
                  <a:cubicBezTo>
                    <a:pt x="632" y="306"/>
                    <a:pt x="632" y="306"/>
                    <a:pt x="512" y="4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>
                <a:solidFill>
                  <a:schemeClr val="bg1"/>
                </a:solidFill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1C9DA1F-F94F-6C71-E74B-AE2D4C71D293}"/>
              </a:ext>
            </a:extLst>
          </p:cNvPr>
          <p:cNvSpPr txBox="1"/>
          <p:nvPr/>
        </p:nvSpPr>
        <p:spPr>
          <a:xfrm>
            <a:off x="800099" y="1890737"/>
            <a:ext cx="4042065" cy="86177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>
            <a:spAutoFit/>
          </a:bodyPr>
          <a:lstStyle/>
          <a:p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Helps contextualize </a:t>
            </a:r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cross-functional data </a:t>
            </a:r>
            <a:b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</a:br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relationships </a:t>
            </a:r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between</a:t>
            </a:r>
            <a:r>
              <a:rPr lang="en-US" sz="1400">
                <a:solidFill>
                  <a:srgbClr val="016EB3"/>
                </a:solidFill>
                <a:latin typeface="Myriad Pro" panose="020B0503030403020204" pitchFamily="34" charset="0"/>
              </a:rPr>
              <a:t> </a:t>
            </a:r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product, commercial </a:t>
            </a:r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(e.g., contract term), and </a:t>
            </a:r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supply chain </a:t>
            </a:r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(e.g., distribution region, delivery route)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4D48B0-6B58-8BC2-F6E1-4F90A7ABC9DD}"/>
              </a:ext>
            </a:extLst>
          </p:cNvPr>
          <p:cNvSpPr txBox="1"/>
          <p:nvPr/>
        </p:nvSpPr>
        <p:spPr>
          <a:xfrm>
            <a:off x="5179831" y="1890737"/>
            <a:ext cx="4042065" cy="43088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>
            <a:spAutoFit/>
          </a:bodyPr>
          <a:lstStyle/>
          <a:p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Combines the info from ontology with </a:t>
            </a:r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real data </a:t>
            </a:r>
            <a:r>
              <a:rPr lang="en-US" sz="1400">
                <a:solidFill>
                  <a:srgbClr val="575757"/>
                </a:solidFill>
                <a:latin typeface="Myriad Pro" panose="020B0503030403020204" pitchFamily="34" charset="0"/>
              </a:rPr>
              <a:t>to trace the full picture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C899F29-5E18-BB3F-741E-4F1FF0AD63DD}"/>
              </a:ext>
            </a:extLst>
          </p:cNvPr>
          <p:cNvGrpSpPr>
            <a:grpSpLocks noChangeAspect="1"/>
          </p:cNvGrpSpPr>
          <p:nvPr/>
        </p:nvGrpSpPr>
        <p:grpSpPr>
          <a:xfrm>
            <a:off x="4864363" y="1475585"/>
            <a:ext cx="293270" cy="293270"/>
            <a:chOff x="982662" y="1847850"/>
            <a:chExt cx="269875" cy="269875"/>
          </a:xfrm>
        </p:grpSpPr>
        <p:sp>
          <p:nvSpPr>
            <p:cNvPr id="82" name="Oval 50">
              <a:extLst>
                <a:ext uri="{FF2B5EF4-FFF2-40B4-BE49-F238E27FC236}">
                  <a16:creationId xmlns:a16="http://schemas.microsoft.com/office/drawing/2014/main" id="{F55C1A58-FD73-FBEA-BDD0-D6AB1DF50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1847850"/>
              <a:ext cx="269875" cy="26987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Freeform 51">
              <a:extLst>
                <a:ext uri="{FF2B5EF4-FFF2-40B4-BE49-F238E27FC236}">
                  <a16:creationId xmlns:a16="http://schemas.microsoft.com/office/drawing/2014/main" id="{6646C818-474B-31D8-9A4D-A5AA0279A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" y="1895475"/>
              <a:ext cx="96837" cy="174625"/>
            </a:xfrm>
            <a:custGeom>
              <a:avLst/>
              <a:gdLst>
                <a:gd name="T0" fmla="*/ 6 w 61"/>
                <a:gd name="T1" fmla="*/ 0 h 110"/>
                <a:gd name="T2" fmla="*/ 0 w 61"/>
                <a:gd name="T3" fmla="*/ 7 h 110"/>
                <a:gd name="T4" fmla="*/ 48 w 61"/>
                <a:gd name="T5" fmla="*/ 55 h 110"/>
                <a:gd name="T6" fmla="*/ 0 w 61"/>
                <a:gd name="T7" fmla="*/ 104 h 110"/>
                <a:gd name="T8" fmla="*/ 6 w 61"/>
                <a:gd name="T9" fmla="*/ 110 h 110"/>
                <a:gd name="T10" fmla="*/ 54 w 61"/>
                <a:gd name="T11" fmla="*/ 62 h 110"/>
                <a:gd name="T12" fmla="*/ 61 w 61"/>
                <a:gd name="T13" fmla="*/ 55 h 110"/>
                <a:gd name="T14" fmla="*/ 54 w 61"/>
                <a:gd name="T15" fmla="*/ 49 h 110"/>
                <a:gd name="T16" fmla="*/ 6 w 61"/>
                <a:gd name="T1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10">
                  <a:moveTo>
                    <a:pt x="6" y="0"/>
                  </a:moveTo>
                  <a:lnTo>
                    <a:pt x="0" y="7"/>
                  </a:lnTo>
                  <a:lnTo>
                    <a:pt x="48" y="55"/>
                  </a:lnTo>
                  <a:lnTo>
                    <a:pt x="0" y="104"/>
                  </a:lnTo>
                  <a:lnTo>
                    <a:pt x="6" y="110"/>
                  </a:lnTo>
                  <a:lnTo>
                    <a:pt x="54" y="62"/>
                  </a:lnTo>
                  <a:lnTo>
                    <a:pt x="61" y="55"/>
                  </a:lnTo>
                  <a:lnTo>
                    <a:pt x="54" y="4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233D2AE-DE16-A63A-D039-7D3D5EBBD5DB}"/>
              </a:ext>
            </a:extLst>
          </p:cNvPr>
          <p:cNvSpPr txBox="1"/>
          <p:nvPr/>
        </p:nvSpPr>
        <p:spPr>
          <a:xfrm>
            <a:off x="9595779" y="1890737"/>
            <a:ext cx="1784641" cy="4347030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spcAft>
                <a:spcPts val="1200"/>
              </a:spcAft>
            </a:pPr>
            <a:r>
              <a:rPr lang="en-US" sz="1600">
                <a:solidFill>
                  <a:srgbClr val="5A5A5A"/>
                </a:solidFill>
                <a:latin typeface="Myriad Pro" panose="020B0503030403020204" pitchFamily="34" charset="0"/>
              </a:rPr>
              <a:t>The closest warehouse to Supermarket A (based in Miami) </a:t>
            </a:r>
            <a:br>
              <a:rPr lang="en-US" sz="1600">
                <a:solidFill>
                  <a:srgbClr val="5A5A5A"/>
                </a:solidFill>
                <a:latin typeface="Myriad Pro" panose="020B0503030403020204" pitchFamily="34" charset="0"/>
              </a:rPr>
            </a:br>
            <a:r>
              <a:rPr lang="en-US" sz="1600">
                <a:solidFill>
                  <a:srgbClr val="5A5A5A"/>
                </a:solidFill>
                <a:latin typeface="Myriad Pro" panose="020B0503030403020204" pitchFamily="34" charset="0"/>
              </a:rPr>
              <a:t>is WH123 in Tampa, FL.</a:t>
            </a:r>
          </a:p>
          <a:p>
            <a:pPr>
              <a:spcAft>
                <a:spcPts val="1200"/>
              </a:spcAft>
            </a:pPr>
            <a:r>
              <a:rPr lang="en-US" sz="1600">
                <a:solidFill>
                  <a:srgbClr val="5A5A5A"/>
                </a:solidFill>
                <a:latin typeface="Myriad Pro" panose="020B0503030403020204" pitchFamily="34" charset="0"/>
              </a:rPr>
              <a:t>The next delivery to Miami scheduled for tomorrow</a:t>
            </a:r>
          </a:p>
          <a:p>
            <a:pPr>
              <a:spcAft>
                <a:spcPts val="1200"/>
              </a:spcAft>
            </a:pPr>
            <a:r>
              <a:rPr lang="en-US" sz="1600">
                <a:solidFill>
                  <a:srgbClr val="5A5A5A"/>
                </a:solidFill>
                <a:latin typeface="Myriad Pro" panose="020B0503030403020204" pitchFamily="34" charset="0"/>
              </a:rPr>
              <a:t>Would you like me to place the order based on the latest contract term ($XX/case)?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B4F0A25-4A13-B6B0-180B-CD390116E948}"/>
              </a:ext>
            </a:extLst>
          </p:cNvPr>
          <p:cNvSpPr/>
          <p:nvPr/>
        </p:nvSpPr>
        <p:spPr>
          <a:xfrm>
            <a:off x="9595780" y="1416050"/>
            <a:ext cx="1769744" cy="412341"/>
          </a:xfrm>
          <a:prstGeom prst="roundRect">
            <a:avLst>
              <a:gd name="adj" fmla="val 9442"/>
            </a:avLst>
          </a:prstGeom>
          <a:solidFill>
            <a:schemeClr val="bg2">
              <a:lumMod val="50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accent5"/>
                </a:solidFill>
                <a:latin typeface="Myriad Pro" panose="020B0503030403020204" pitchFamily="34" charset="0"/>
              </a:rPr>
              <a:t>Agent Response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50BD08A-1060-CFDC-EF4B-1EA6ED810C01}"/>
              </a:ext>
            </a:extLst>
          </p:cNvPr>
          <p:cNvGrpSpPr>
            <a:grpSpLocks noChangeAspect="1"/>
          </p:cNvGrpSpPr>
          <p:nvPr/>
        </p:nvGrpSpPr>
        <p:grpSpPr>
          <a:xfrm>
            <a:off x="9266831" y="1475585"/>
            <a:ext cx="293270" cy="293270"/>
            <a:chOff x="982662" y="1847850"/>
            <a:chExt cx="269875" cy="269875"/>
          </a:xfrm>
        </p:grpSpPr>
        <p:sp>
          <p:nvSpPr>
            <p:cNvPr id="89" name="Oval 50">
              <a:extLst>
                <a:ext uri="{FF2B5EF4-FFF2-40B4-BE49-F238E27FC236}">
                  <a16:creationId xmlns:a16="http://schemas.microsoft.com/office/drawing/2014/main" id="{3B4B2C29-44A2-E851-98EA-3E148995C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1847850"/>
              <a:ext cx="269875" cy="26987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Freeform 51">
              <a:extLst>
                <a:ext uri="{FF2B5EF4-FFF2-40B4-BE49-F238E27FC236}">
                  <a16:creationId xmlns:a16="http://schemas.microsoft.com/office/drawing/2014/main" id="{E61A8BDF-BFAD-9E8F-4785-FC27B2676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" y="1895475"/>
              <a:ext cx="96837" cy="174625"/>
            </a:xfrm>
            <a:custGeom>
              <a:avLst/>
              <a:gdLst>
                <a:gd name="T0" fmla="*/ 6 w 61"/>
                <a:gd name="T1" fmla="*/ 0 h 110"/>
                <a:gd name="T2" fmla="*/ 0 w 61"/>
                <a:gd name="T3" fmla="*/ 7 h 110"/>
                <a:gd name="T4" fmla="*/ 48 w 61"/>
                <a:gd name="T5" fmla="*/ 55 h 110"/>
                <a:gd name="T6" fmla="*/ 0 w 61"/>
                <a:gd name="T7" fmla="*/ 104 h 110"/>
                <a:gd name="T8" fmla="*/ 6 w 61"/>
                <a:gd name="T9" fmla="*/ 110 h 110"/>
                <a:gd name="T10" fmla="*/ 54 w 61"/>
                <a:gd name="T11" fmla="*/ 62 h 110"/>
                <a:gd name="T12" fmla="*/ 61 w 61"/>
                <a:gd name="T13" fmla="*/ 55 h 110"/>
                <a:gd name="T14" fmla="*/ 54 w 61"/>
                <a:gd name="T15" fmla="*/ 49 h 110"/>
                <a:gd name="T16" fmla="*/ 6 w 61"/>
                <a:gd name="T1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10">
                  <a:moveTo>
                    <a:pt x="6" y="0"/>
                  </a:moveTo>
                  <a:lnTo>
                    <a:pt x="0" y="7"/>
                  </a:lnTo>
                  <a:lnTo>
                    <a:pt x="48" y="55"/>
                  </a:lnTo>
                  <a:lnTo>
                    <a:pt x="0" y="104"/>
                  </a:lnTo>
                  <a:lnTo>
                    <a:pt x="6" y="110"/>
                  </a:lnTo>
                  <a:lnTo>
                    <a:pt x="54" y="62"/>
                  </a:lnTo>
                  <a:lnTo>
                    <a:pt x="61" y="55"/>
                  </a:lnTo>
                  <a:lnTo>
                    <a:pt x="54" y="4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64BA3CCA-9FC0-C5B7-49AD-EEB05D19455E}"/>
              </a:ext>
            </a:extLst>
          </p:cNvPr>
          <p:cNvSpPr txBox="1"/>
          <p:nvPr/>
        </p:nvSpPr>
        <p:spPr>
          <a:xfrm>
            <a:off x="1329409" y="5961693"/>
            <a:ext cx="2983445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[Blue colored text]: New info acquired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A3440F-2FFF-2DF5-FDF6-33BF8162173A}"/>
              </a:ext>
            </a:extLst>
          </p:cNvPr>
          <p:cNvSpPr txBox="1"/>
          <p:nvPr/>
        </p:nvSpPr>
        <p:spPr>
          <a:xfrm>
            <a:off x="5709141" y="5961693"/>
            <a:ext cx="2983445" cy="215444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accent5"/>
                </a:solidFill>
                <a:latin typeface="Myriad Pro" panose="020B0503030403020204" pitchFamily="34" charset="0"/>
              </a:rPr>
              <a:t>[Blue colored text]: New info acquired</a:t>
            </a:r>
          </a:p>
        </p:txBody>
      </p:sp>
    </p:spTree>
    <p:extLst>
      <p:ext uri="{BB962C8B-B14F-4D97-AF65-F5344CB8AC3E}">
        <p14:creationId xmlns:p14="http://schemas.microsoft.com/office/powerpoint/2010/main" val="2292509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Example | James, the Account Manager asks - "Which warehouse is closest to fulfill a Doritos order at Supermarket A?"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</cp:revision>
  <dcterms:created xsi:type="dcterms:W3CDTF">2013-07-15T20:26:40Z</dcterms:created>
  <dcterms:modified xsi:type="dcterms:W3CDTF">2026-08-22T20:25:58Z</dcterms:modified>
</cp:coreProperties>
</file>